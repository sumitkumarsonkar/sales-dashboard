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0" r:id="rId1"/>
  </p:sldMasterIdLst>
  <p:sldIdLst>
    <p:sldId id="256" r:id="rId2"/>
    <p:sldId id="267" r:id="rId3"/>
    <p:sldId id="268" r:id="rId4"/>
    <p:sldId id="257" r:id="rId5"/>
    <p:sldId id="258" r:id="rId6"/>
    <p:sldId id="261" r:id="rId7"/>
    <p:sldId id="260" r:id="rId8"/>
    <p:sldId id="259" r:id="rId9"/>
    <p:sldId id="262" r:id="rId10"/>
    <p:sldId id="265" r:id="rId11"/>
    <p:sldId id="266" r:id="rId12"/>
    <p:sldId id="263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85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20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33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21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2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843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768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092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4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22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42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535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07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37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81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988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0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28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  <p:sldLayoutId id="2147483982" r:id="rId12"/>
    <p:sldLayoutId id="2147483983" r:id="rId13"/>
    <p:sldLayoutId id="2147483984" r:id="rId14"/>
    <p:sldLayoutId id="2147483985" r:id="rId15"/>
    <p:sldLayoutId id="2147483986" r:id="rId16"/>
    <p:sldLayoutId id="214748398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27255" y="1127904"/>
            <a:ext cx="6349432" cy="1348381"/>
          </a:xfrm>
        </p:spPr>
        <p:txBody>
          <a:bodyPr/>
          <a:lstStyle/>
          <a:p>
            <a:r>
              <a:rPr lang="en-US" sz="6000" dirty="0">
                <a:latin typeface="Arial Black" panose="020B0A04020102020204" pitchFamily="34" charset="0"/>
              </a:rPr>
              <a:t>Data Analysis</a:t>
            </a:r>
            <a:br>
              <a:rPr lang="en-US" sz="6000" dirty="0">
                <a:latin typeface="Arial Black" panose="020B0A04020102020204" pitchFamily="34" charset="0"/>
              </a:rPr>
            </a:br>
            <a:r>
              <a:rPr lang="en-IN" sz="1600" b="1" dirty="0">
                <a:solidFill>
                  <a:srgbClr val="E6E6E6"/>
                </a:solidFill>
                <a:latin typeface="Arial Rounded MT Bold" panose="020F0704030504030204" pitchFamily="34" charset="0"/>
              </a:rPr>
              <a:t>( S</a:t>
            </a:r>
            <a:r>
              <a:rPr lang="en-IN" sz="1600" b="1" dirty="0">
                <a:solidFill>
                  <a:srgbClr val="E6E6E6"/>
                </a:solidFill>
                <a:effectLst/>
                <a:latin typeface="Arial Rounded MT Bold" panose="020F0704030504030204" pitchFamily="34" charset="0"/>
              </a:rPr>
              <a:t>UPERSTORE SALES DASHBOARD )</a:t>
            </a:r>
            <a:endParaRPr sz="1600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9E8908-F643-4162-A2B0-AF7B83D6D375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5F1373-19D8-4949-9E27-16315EC07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42" y="2368667"/>
            <a:ext cx="5033270" cy="369721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31F160A-CAF6-4D65-BED4-CE277A25158F}"/>
              </a:ext>
            </a:extLst>
          </p:cNvPr>
          <p:cNvCxnSpPr/>
          <p:nvPr/>
        </p:nvCxnSpPr>
        <p:spPr>
          <a:xfrm>
            <a:off x="5675585" y="2974430"/>
            <a:ext cx="565456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E4C342-E8FF-4DB6-905B-0AE4B2D3B7EB}"/>
              </a:ext>
            </a:extLst>
          </p:cNvPr>
          <p:cNvSpPr txBox="1"/>
          <p:nvPr/>
        </p:nvSpPr>
        <p:spPr>
          <a:xfrm>
            <a:off x="5590315" y="3123466"/>
            <a:ext cx="4866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err="1">
                <a:latin typeface="Arial Black" panose="020B0A04020102020204" pitchFamily="34" charset="0"/>
              </a:rPr>
              <a:t>Sumit</a:t>
            </a:r>
            <a:r>
              <a:rPr lang="en-IN" sz="3200" b="1" dirty="0">
                <a:latin typeface="Arial Black" panose="020B0A04020102020204" pitchFamily="34" charset="0"/>
              </a:rPr>
              <a:t> Kumar </a:t>
            </a:r>
            <a:r>
              <a:rPr lang="en-IN" sz="3200" b="1" dirty="0" err="1">
                <a:latin typeface="Arial Black" panose="020B0A04020102020204" pitchFamily="34" charset="0"/>
              </a:rPr>
              <a:t>Sonkar</a:t>
            </a:r>
            <a:endParaRPr lang="en-IN" sz="32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AE7234-FC81-40A5-B429-AF945C9CF93C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AFCB57-4BE4-45DB-944A-A3FF029E73C7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464023E-4F86-4E04-A7E0-E8028513E985}"/>
              </a:ext>
            </a:extLst>
          </p:cNvPr>
          <p:cNvSpPr txBox="1"/>
          <p:nvPr/>
        </p:nvSpPr>
        <p:spPr>
          <a:xfrm>
            <a:off x="725216" y="604644"/>
            <a:ext cx="6978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🔍</a:t>
            </a:r>
            <a:r>
              <a:rPr lang="en-IN" sz="2500" b="1" dirty="0">
                <a:latin typeface="Arial Black" panose="020B0A04020102020204" pitchFamily="34" charset="0"/>
              </a:rPr>
              <a:t>Data Analysis Process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8564EB-02AA-49EA-99A6-9A519A2A12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958"/>
          <a:stretch/>
        </p:blipFill>
        <p:spPr>
          <a:xfrm>
            <a:off x="4484416" y="3773213"/>
            <a:ext cx="6852738" cy="17836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5313AE-67BA-49F9-AD4C-BD093ED104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328" b="38168"/>
          <a:stretch/>
        </p:blipFill>
        <p:spPr>
          <a:xfrm>
            <a:off x="4499121" y="2358211"/>
            <a:ext cx="6873072" cy="12673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DE4CA2-B14C-4318-B110-D50D9CFE4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16" y="2041140"/>
            <a:ext cx="3198644" cy="316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042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DAADEE-CD0A-461B-AD7F-28B1C00FD9DD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EA334B-3D4D-4951-897B-8E2C0C282335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2A14538-7395-4EBC-AFBC-5F3A41FBC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761" y="1571298"/>
            <a:ext cx="7972432" cy="41629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AB5827-5AEE-46E5-BB88-B461BCD8EE0A}"/>
              </a:ext>
            </a:extLst>
          </p:cNvPr>
          <p:cNvSpPr txBox="1"/>
          <p:nvPr/>
        </p:nvSpPr>
        <p:spPr>
          <a:xfrm>
            <a:off x="819806" y="640304"/>
            <a:ext cx="655845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E6E6E6"/>
                </a:solidFill>
                <a:latin typeface="Arial Black" panose="020B0A04020102020204" pitchFamily="34" charset="0"/>
              </a:rPr>
              <a:t>Superstore</a:t>
            </a:r>
            <a:r>
              <a:rPr lang="en-IN" sz="2500" b="1" dirty="0">
                <a:solidFill>
                  <a:srgbClr val="E6E6E6"/>
                </a:solidFill>
                <a:effectLst/>
                <a:latin typeface="Arial Black" panose="020B0A04020102020204" pitchFamily="34" charset="0"/>
              </a:rPr>
              <a:t> Sales Data</a:t>
            </a:r>
            <a:endParaRPr lang="en-IN" sz="2500" dirty="0">
              <a:latin typeface="Arial Black" panose="020B0A040201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6424769-AE44-4374-8A05-DDAB2626D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117814"/>
              </p:ext>
            </p:extLst>
          </p:nvPr>
        </p:nvGraphicFramePr>
        <p:xfrm>
          <a:off x="893379" y="1618736"/>
          <a:ext cx="2361324" cy="1464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662">
                  <a:extLst>
                    <a:ext uri="{9D8B030D-6E8A-4147-A177-3AD203B41FA5}">
                      <a16:colId xmlns:a16="http://schemas.microsoft.com/office/drawing/2014/main" val="3103962144"/>
                    </a:ext>
                  </a:extLst>
                </a:gridCol>
                <a:gridCol w="1180662">
                  <a:extLst>
                    <a:ext uri="{9D8B030D-6E8A-4147-A177-3AD203B41FA5}">
                      <a16:colId xmlns:a16="http://schemas.microsoft.com/office/drawing/2014/main" val="1949679859"/>
                    </a:ext>
                  </a:extLst>
                </a:gridCol>
              </a:tblGrid>
              <a:tr h="73326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 Rows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 Column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190414"/>
                  </a:ext>
                </a:extLst>
              </a:tr>
              <a:tr h="73164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3999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84156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E05AB3C-723C-4382-A5CA-481A3A8E1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58" y="3520097"/>
            <a:ext cx="2214166" cy="221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225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212" y="651124"/>
            <a:ext cx="6168339" cy="472614"/>
          </a:xfrm>
        </p:spPr>
        <p:txBody>
          <a:bodyPr>
            <a:normAutofit fontScale="90000"/>
          </a:bodyPr>
          <a:lstStyle/>
          <a:p>
            <a:r>
              <a:rPr sz="2800" b="1" dirty="0">
                <a:latin typeface="Arial Black" panose="020B0A04020102020204" pitchFamily="34" charset="0"/>
              </a:rPr>
              <a:t>Dashboard - Overview (Page 1)</a:t>
            </a:r>
            <a:r>
              <a:rPr lang="en-IN" sz="2800" b="1" dirty="0">
                <a:latin typeface="Arial Black" panose="020B0A04020102020204" pitchFamily="34" charset="0"/>
              </a:rPr>
              <a:t>  </a:t>
            </a:r>
            <a:endParaRPr sz="2800" b="1" dirty="0"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6DDCE-6EC2-4F9B-AD9E-B38A2EA3BCBA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58C3636-0B8A-4749-8B2D-3A2C651B115B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E1B5269-9DB3-7B38-71C1-FE70CA15E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105" y="1195169"/>
            <a:ext cx="9595362" cy="53023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277" y="631392"/>
            <a:ext cx="7055380" cy="598316"/>
          </a:xfrm>
        </p:spPr>
        <p:txBody>
          <a:bodyPr/>
          <a:lstStyle/>
          <a:p>
            <a:r>
              <a:rPr lang="en-IN" sz="2500" b="1" dirty="0">
                <a:latin typeface="Arial Black" panose="020B0A04020102020204" pitchFamily="34" charset="0"/>
              </a:rPr>
              <a:t>Dashboard - Overview (Page 2) </a:t>
            </a:r>
            <a:endParaRPr lang="en-IN" sz="25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3A742F-06BD-43C0-9020-15F8CC1C2BE9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FC801A-DD26-47D1-B8B7-72E36A0A42A7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EE4DF37-0CC3-4A2B-AB14-01362FFCD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79" y="1376420"/>
            <a:ext cx="8821186" cy="4939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264" y="628206"/>
            <a:ext cx="4945875" cy="527062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Arial Black" panose="020B0A04020102020204" pitchFamily="34" charset="0"/>
              </a:rPr>
              <a:t>📌 KPI Insights for Slide</a:t>
            </a:r>
            <a:br>
              <a:rPr lang="en-IN" sz="2400" b="1" dirty="0"/>
            </a:br>
            <a:endParaRPr sz="1800" dirty="0"/>
          </a:p>
        </p:txBody>
      </p:sp>
      <p:pic>
        <p:nvPicPr>
          <p:cNvPr id="3" name="Picture 2" descr="Screenshot 2025-11-06 0206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733" y="1567059"/>
            <a:ext cx="5591016" cy="45585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5F7CF0E-4E51-4341-BB3C-106F964D3C2E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FF7EFF7-3DAD-4484-B87E-3DCB984F3828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3">
            <a:extLst>
              <a:ext uri="{FF2B5EF4-FFF2-40B4-BE49-F238E27FC236}">
                <a16:creationId xmlns:a16="http://schemas.microsoft.com/office/drawing/2014/main" id="{F4762ADE-02D4-459C-A013-300176ED1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379" y="1567059"/>
            <a:ext cx="331075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Product : 1605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Quantity : 15K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Sales : 929K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Avg Profit : 26.76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Profit % : 11.52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727" y="589264"/>
            <a:ext cx="6763682" cy="503717"/>
          </a:xfrm>
        </p:spPr>
        <p:txBody>
          <a:bodyPr/>
          <a:lstStyle/>
          <a:p>
            <a:r>
              <a:rPr lang="en-US" sz="2500" b="1" dirty="0">
                <a:latin typeface="Arial Black" panose="020B0A04020102020204" pitchFamily="34" charset="0"/>
              </a:rPr>
              <a:t>📦 Top-Selling Products by Quantity</a:t>
            </a:r>
            <a:endParaRPr sz="2500" b="1" dirty="0"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63CDB4-FB57-4DAD-B303-A88F18CCDE95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B2B16D-84B0-4F47-9A5F-E884A0992408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E3F3061-26BF-4112-BAAA-0959B4CF9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243" y="4013512"/>
            <a:ext cx="5318950" cy="2255224"/>
          </a:xfrm>
          <a:prstGeom prst="rect">
            <a:avLst/>
          </a:prstGeom>
        </p:spPr>
      </p:pic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151EB5EB-B334-4DC6-B9B8-2A5A8CEAF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552133"/>
              </p:ext>
            </p:extLst>
          </p:nvPr>
        </p:nvGraphicFramePr>
        <p:xfrm>
          <a:off x="893382" y="1528963"/>
          <a:ext cx="4508936" cy="473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273">
                  <a:extLst>
                    <a:ext uri="{9D8B030D-6E8A-4147-A177-3AD203B41FA5}">
                      <a16:colId xmlns:a16="http://schemas.microsoft.com/office/drawing/2014/main" val="2986164896"/>
                    </a:ext>
                  </a:extLst>
                </a:gridCol>
                <a:gridCol w="2585545">
                  <a:extLst>
                    <a:ext uri="{9D8B030D-6E8A-4147-A177-3AD203B41FA5}">
                      <a16:colId xmlns:a16="http://schemas.microsoft.com/office/drawing/2014/main" val="3351916905"/>
                    </a:ext>
                  </a:extLst>
                </a:gridCol>
                <a:gridCol w="1135118">
                  <a:extLst>
                    <a:ext uri="{9D8B030D-6E8A-4147-A177-3AD203B41FA5}">
                      <a16:colId xmlns:a16="http://schemas.microsoft.com/office/drawing/2014/main" val="3454226507"/>
                    </a:ext>
                  </a:extLst>
                </a:gridCol>
              </a:tblGrid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Rank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 Name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Quantity 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481812"/>
                  </a:ext>
                </a:extLst>
              </a:tr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Staple Envelope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100+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596693"/>
                  </a:ext>
                </a:extLst>
              </a:tr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Staples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~95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838294"/>
                  </a:ext>
                </a:extLst>
              </a:tr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Easy-Staple Paper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~75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074423"/>
                  </a:ext>
                </a:extLst>
              </a:tr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Avery 485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~50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098425"/>
                  </a:ext>
                </a:extLst>
              </a:tr>
              <a:tr h="710083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Global Push Button Manager's Chair, Indigo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&lt;50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321993"/>
                  </a:ext>
                </a:extLst>
              </a:tr>
              <a:tr h="710083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Avery Heavy-Duty EZD View Binder with Locking Rings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&lt;50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067805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94D036ED-4D2B-4E98-AE13-328F80F69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332" y="1528963"/>
            <a:ext cx="2691364" cy="21504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2A1724-3774-46B1-AD1E-DFE827339417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278B3A-AC15-4599-A5AF-4306F49F7DAB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113BA49-E2C2-496E-BD8B-2F37A62C1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531" y="1515001"/>
            <a:ext cx="3720662" cy="4662702"/>
          </a:xfrm>
          <a:prstGeom prst="rect">
            <a:avLst/>
          </a:prstGeom>
        </p:spPr>
      </p:pic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B88350F4-1F17-4E39-8F85-CC90AB09B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144548"/>
              </p:ext>
            </p:extLst>
          </p:nvPr>
        </p:nvGraphicFramePr>
        <p:xfrm>
          <a:off x="893381" y="1488486"/>
          <a:ext cx="6159060" cy="473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408">
                  <a:extLst>
                    <a:ext uri="{9D8B030D-6E8A-4147-A177-3AD203B41FA5}">
                      <a16:colId xmlns:a16="http://schemas.microsoft.com/office/drawing/2014/main" val="2986164896"/>
                    </a:ext>
                  </a:extLst>
                </a:gridCol>
                <a:gridCol w="3522283">
                  <a:extLst>
                    <a:ext uri="{9D8B030D-6E8A-4147-A177-3AD203B41FA5}">
                      <a16:colId xmlns:a16="http://schemas.microsoft.com/office/drawing/2014/main" val="3351916905"/>
                    </a:ext>
                  </a:extLst>
                </a:gridCol>
                <a:gridCol w="1546369">
                  <a:extLst>
                    <a:ext uri="{9D8B030D-6E8A-4147-A177-3AD203B41FA5}">
                      <a16:colId xmlns:a16="http://schemas.microsoft.com/office/drawing/2014/main" val="3454226507"/>
                    </a:ext>
                  </a:extLst>
                </a:gridCol>
              </a:tblGrid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Rank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City Name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Quantity 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481812"/>
                  </a:ext>
                </a:extLst>
              </a:tr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New York City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1.1K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596693"/>
                  </a:ext>
                </a:extLst>
              </a:tr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Los Angeles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900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838294"/>
                  </a:ext>
                </a:extLst>
              </a:tr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Philadelphia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700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074423"/>
                  </a:ext>
                </a:extLst>
              </a:tr>
              <a:tr h="663922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San Francisco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098425"/>
                  </a:ext>
                </a:extLst>
              </a:tr>
              <a:tr h="710083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Houston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500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321993"/>
                  </a:ext>
                </a:extLst>
              </a:tr>
              <a:tr h="710083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Seattle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0678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FB1D04B-B5E9-4100-8992-98B4CF9B0775}"/>
              </a:ext>
            </a:extLst>
          </p:cNvPr>
          <p:cNvSpPr txBox="1"/>
          <p:nvPr/>
        </p:nvSpPr>
        <p:spPr>
          <a:xfrm>
            <a:off x="819811" y="630620"/>
            <a:ext cx="456148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 Black" panose="020B0A04020102020204" pitchFamily="34" charset="0"/>
              </a:rPr>
              <a:t>Top 6 Cities by Quantity</a:t>
            </a:r>
            <a:endParaRPr lang="en-IN" sz="25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235" y="610368"/>
            <a:ext cx="4493447" cy="493209"/>
          </a:xfrm>
        </p:spPr>
        <p:txBody>
          <a:bodyPr/>
          <a:lstStyle/>
          <a:p>
            <a:r>
              <a:rPr lang="en-IN" sz="2500" dirty="0">
                <a:latin typeface="Arial Black" panose="020B0A04020102020204" pitchFamily="34" charset="0"/>
              </a:rPr>
              <a:t>🧩 Sales by Category</a:t>
            </a:r>
            <a:endParaRPr sz="2500" dirty="0"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97A76-4249-4147-98C0-EC768A0231DE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D1A6E7-3F38-44A1-B9F2-C95F4C008A05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C3D3A11-B12D-4B06-96AC-26AF808D7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495" y="1666175"/>
            <a:ext cx="5214698" cy="4135270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7A007C3-70FB-4DB3-8C85-62BF2BC3D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680738"/>
              </p:ext>
            </p:extLst>
          </p:nvPr>
        </p:nvGraphicFramePr>
        <p:xfrm>
          <a:off x="913616" y="3541987"/>
          <a:ext cx="4656084" cy="2259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042">
                  <a:extLst>
                    <a:ext uri="{9D8B030D-6E8A-4147-A177-3AD203B41FA5}">
                      <a16:colId xmlns:a16="http://schemas.microsoft.com/office/drawing/2014/main" val="2611423169"/>
                    </a:ext>
                  </a:extLst>
                </a:gridCol>
                <a:gridCol w="2328042">
                  <a:extLst>
                    <a:ext uri="{9D8B030D-6E8A-4147-A177-3AD203B41FA5}">
                      <a16:colId xmlns:a16="http://schemas.microsoft.com/office/drawing/2014/main" val="168233225"/>
                    </a:ext>
                  </a:extLst>
                </a:gridCol>
              </a:tblGrid>
              <a:tr h="518524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Category</a:t>
                      </a:r>
                      <a:endParaRPr lang="en-IN" sz="1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Sales Share (%)</a:t>
                      </a:r>
                      <a:endParaRPr lang="en-IN" sz="18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74323"/>
                  </a:ext>
                </a:extLst>
              </a:tr>
              <a:tr h="580311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Technology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38.09%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006942"/>
                  </a:ext>
                </a:extLst>
              </a:tr>
              <a:tr h="580311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Furniture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33.15%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909448"/>
                  </a:ext>
                </a:extLst>
              </a:tr>
              <a:tr h="580311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Office Supplies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28.76%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58558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110443C-B960-41BD-8408-837642B962A2}"/>
              </a:ext>
            </a:extLst>
          </p:cNvPr>
          <p:cNvSpPr txBox="1"/>
          <p:nvPr/>
        </p:nvSpPr>
        <p:spPr>
          <a:xfrm>
            <a:off x="840046" y="1666175"/>
            <a:ext cx="479193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🎯 Insight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Technology leads with 38% of total sales, but Furniture and Office Supplies are close contenders, indicating a balanced product mix.</a:t>
            </a:r>
            <a:endParaRPr lang="en-IN" sz="16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DDB35-FF7E-4AFC-8690-B2EFAC124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192" y="599858"/>
            <a:ext cx="4567020" cy="987198"/>
          </a:xfrm>
        </p:spPr>
        <p:txBody>
          <a:bodyPr/>
          <a:lstStyle/>
          <a:p>
            <a:r>
              <a:rPr lang="en-IN" sz="2500" dirty="0">
                <a:solidFill>
                  <a:schemeClr val="tx1"/>
                </a:solidFill>
                <a:latin typeface="Arial Black" panose="020B0A04020102020204" pitchFamily="34" charset="0"/>
              </a:rPr>
              <a:t>🌍 Sales by Region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78C411-644F-40BC-8348-D5D37F615D01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D5078B7-3320-4209-B61F-4C61C8980F0B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414AEFD4-B6B6-4567-9FCF-4AE42A1EF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157852"/>
              </p:ext>
            </p:extLst>
          </p:nvPr>
        </p:nvGraphicFramePr>
        <p:xfrm>
          <a:off x="913616" y="3541987"/>
          <a:ext cx="4656084" cy="2259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042">
                  <a:extLst>
                    <a:ext uri="{9D8B030D-6E8A-4147-A177-3AD203B41FA5}">
                      <a16:colId xmlns:a16="http://schemas.microsoft.com/office/drawing/2014/main" val="2611423169"/>
                    </a:ext>
                  </a:extLst>
                </a:gridCol>
                <a:gridCol w="2328042">
                  <a:extLst>
                    <a:ext uri="{9D8B030D-6E8A-4147-A177-3AD203B41FA5}">
                      <a16:colId xmlns:a16="http://schemas.microsoft.com/office/drawing/2014/main" val="168233225"/>
                    </a:ext>
                  </a:extLst>
                </a:gridCol>
              </a:tblGrid>
              <a:tr h="518524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Region</a:t>
                      </a:r>
                      <a:endParaRPr lang="en-IN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Sales Share (%)</a:t>
                      </a:r>
                      <a:endParaRPr lang="en-IN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74323"/>
                  </a:ext>
                </a:extLst>
              </a:tr>
              <a:tr h="580311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West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46.63%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006942"/>
                  </a:ext>
                </a:extLst>
              </a:tr>
              <a:tr h="580311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East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44.36%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909448"/>
                  </a:ext>
                </a:extLst>
              </a:tr>
              <a:tr h="580311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Central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9.01%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5855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74CE83E-C0CD-43D8-AD3F-8D53C17F6413}"/>
              </a:ext>
            </a:extLst>
          </p:cNvPr>
          <p:cNvSpPr txBox="1"/>
          <p:nvPr/>
        </p:nvSpPr>
        <p:spPr>
          <a:xfrm>
            <a:off x="840046" y="1666175"/>
            <a:ext cx="47919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🎯 Insight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West and East regions dominate with over 90% of total sales, while Central lags significantly.</a:t>
            </a:r>
            <a:endParaRPr lang="en-IN" sz="1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99B2B0-68B0-5AA3-D9CB-4EE28735B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112" y="1622973"/>
            <a:ext cx="4907642" cy="383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64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A657D-097C-4A3A-B83E-C4F972CA6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702" y="620882"/>
            <a:ext cx="4335796" cy="502856"/>
          </a:xfrm>
        </p:spPr>
        <p:txBody>
          <a:bodyPr/>
          <a:lstStyle/>
          <a:p>
            <a:r>
              <a:rPr lang="en-US" sz="2500" dirty="0">
                <a:solidFill>
                  <a:schemeClr val="tx1"/>
                </a:solidFill>
                <a:latin typeface="Arial Black" panose="020B0A04020102020204" pitchFamily="34" charset="0"/>
              </a:rPr>
              <a:t>🚚 Sales by Ship Mode</a:t>
            </a:r>
            <a:endParaRPr lang="en-IN" sz="2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4A9560-9050-4D9E-B998-4AC4394D9AFD}"/>
              </a:ext>
            </a:extLst>
          </p:cNvPr>
          <p:cNvSpPr/>
          <p:nvPr/>
        </p:nvSpPr>
        <p:spPr>
          <a:xfrm>
            <a:off x="325821" y="283779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26C3D5E-7A84-4401-808A-DD3A082ED0F3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2D4C6C3-3EE5-4B7F-A487-C39A87CB3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161453"/>
              </p:ext>
            </p:extLst>
          </p:nvPr>
        </p:nvGraphicFramePr>
        <p:xfrm>
          <a:off x="893379" y="3405351"/>
          <a:ext cx="4761188" cy="268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0594">
                  <a:extLst>
                    <a:ext uri="{9D8B030D-6E8A-4147-A177-3AD203B41FA5}">
                      <a16:colId xmlns:a16="http://schemas.microsoft.com/office/drawing/2014/main" val="842982410"/>
                    </a:ext>
                  </a:extLst>
                </a:gridCol>
                <a:gridCol w="2380594">
                  <a:extLst>
                    <a:ext uri="{9D8B030D-6E8A-4147-A177-3AD203B41FA5}">
                      <a16:colId xmlns:a16="http://schemas.microsoft.com/office/drawing/2014/main" val="1259620574"/>
                    </a:ext>
                  </a:extLst>
                </a:gridCol>
              </a:tblGrid>
              <a:tr h="53678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Ship Mode</a:t>
                      </a:r>
                      <a:endParaRPr lang="en-IN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Sales Share (%)</a:t>
                      </a:r>
                      <a:endParaRPr lang="en-IN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454121"/>
                  </a:ext>
                </a:extLst>
              </a:tr>
              <a:tr h="536788">
                <a:tc>
                  <a:txBody>
                    <a:bodyPr/>
                    <a:lstStyle/>
                    <a:p>
                      <a:pPr lvl="1"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Standard Class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60.05%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860703"/>
                  </a:ext>
                </a:extLst>
              </a:tr>
              <a:tr h="536788">
                <a:tc>
                  <a:txBody>
                    <a:bodyPr/>
                    <a:lstStyle/>
                    <a:p>
                      <a:pPr lvl="1"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Second Class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18.04%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170237"/>
                  </a:ext>
                </a:extLst>
              </a:tr>
              <a:tr h="536788">
                <a:tc>
                  <a:txBody>
                    <a:bodyPr/>
                    <a:lstStyle/>
                    <a:p>
                      <a:pPr lvl="1"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First Class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16.63%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444199"/>
                  </a:ext>
                </a:extLst>
              </a:tr>
              <a:tr h="536788">
                <a:tc>
                  <a:txBody>
                    <a:bodyPr/>
                    <a:lstStyle/>
                    <a:p>
                      <a:pPr lvl="1" algn="l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Same Day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5.29%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8548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3BD8E5-D86B-4EE4-B899-8BCA6F17891D}"/>
              </a:ext>
            </a:extLst>
          </p:cNvPr>
          <p:cNvSpPr txBox="1"/>
          <p:nvPr/>
        </p:nvSpPr>
        <p:spPr>
          <a:xfrm>
            <a:off x="840046" y="1666175"/>
            <a:ext cx="47919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🎯 Insight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b="1" dirty="0"/>
              <a:t>Standard Class dominates with 60% of sales, indicating customer preference for cost-effective delivery.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D897F5-F389-4232-4575-007C1B128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192" y="1761066"/>
            <a:ext cx="5193882" cy="391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908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702" y="610368"/>
            <a:ext cx="6164596" cy="413284"/>
          </a:xfrm>
        </p:spPr>
        <p:txBody>
          <a:bodyPr/>
          <a:lstStyle/>
          <a:p>
            <a:r>
              <a:rPr lang="en-US" sz="2500" b="1" dirty="0">
                <a:solidFill>
                  <a:schemeClr val="tx1"/>
                </a:solidFill>
                <a:latin typeface="Arial Black" panose="020B0A04020102020204" pitchFamily="34" charset="0"/>
              </a:rPr>
              <a:t>📈 Monthly Sales &amp; Profit Trends </a:t>
            </a:r>
            <a:endParaRPr sz="25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Picture 2" descr="Screenshot 2025-11-06 0207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771" y="1480261"/>
            <a:ext cx="5507422" cy="473218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1974610-7821-4168-A06C-4FC23A6CE00A}"/>
              </a:ext>
            </a:extLst>
          </p:cNvPr>
          <p:cNvSpPr/>
          <p:nvPr/>
        </p:nvSpPr>
        <p:spPr>
          <a:xfrm>
            <a:off x="325821" y="199696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C80A394-DBE9-4661-A48B-0F84ACB4B668}"/>
              </a:ext>
            </a:extLst>
          </p:cNvPr>
          <p:cNvCxnSpPr>
            <a:cxnSpLocks/>
          </p:cNvCxnSpPr>
          <p:nvPr/>
        </p:nvCxnSpPr>
        <p:spPr>
          <a:xfrm>
            <a:off x="893379" y="1123738"/>
            <a:ext cx="104788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7BE388-1EE7-40A1-8E5C-0955F8268255}"/>
              </a:ext>
            </a:extLst>
          </p:cNvPr>
          <p:cNvSpPr txBox="1"/>
          <p:nvPr/>
        </p:nvSpPr>
        <p:spPr>
          <a:xfrm>
            <a:off x="817041" y="1480261"/>
            <a:ext cx="47919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🎯 Insight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1" dirty="0"/>
              <a:t> 2014 consistently outperforms 2013 across most months, with September and November as peak periods for both sales and profit.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AC5D7B-9372-42D0-8D8E-107E38398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96" y="3001531"/>
            <a:ext cx="4316200" cy="32109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A4D849-A517-421B-89ED-8BE360A59452}"/>
              </a:ext>
            </a:extLst>
          </p:cNvPr>
          <p:cNvSpPr/>
          <p:nvPr/>
        </p:nvSpPr>
        <p:spPr>
          <a:xfrm>
            <a:off x="325821" y="199696"/>
            <a:ext cx="11571889" cy="62851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B5C83D-4718-4490-B537-C82D2EB4FA29}"/>
              </a:ext>
            </a:extLst>
          </p:cNvPr>
          <p:cNvSpPr txBox="1"/>
          <p:nvPr/>
        </p:nvSpPr>
        <p:spPr>
          <a:xfrm>
            <a:off x="3499944" y="2834457"/>
            <a:ext cx="46140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92427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318</TotalTime>
  <Words>309</Words>
  <Application>Microsoft Office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Arial Rounded MT Bold</vt:lpstr>
      <vt:lpstr>Century Gothic</vt:lpstr>
      <vt:lpstr>Wingdings 3</vt:lpstr>
      <vt:lpstr>Ion</vt:lpstr>
      <vt:lpstr>Data Analysis ( SUPERSTORE SALES DASHBOARD )</vt:lpstr>
      <vt:lpstr>PowerPoint Presentation</vt:lpstr>
      <vt:lpstr>PowerPoint Presentation</vt:lpstr>
      <vt:lpstr>Dashboard - Overview (Page 1)  </vt:lpstr>
      <vt:lpstr>Dashboard - Overview (Page 2) </vt:lpstr>
      <vt:lpstr>📌 KPI Insights for Slide </vt:lpstr>
      <vt:lpstr>📦 Top-Selling Products by Quantity</vt:lpstr>
      <vt:lpstr>PowerPoint Presentation</vt:lpstr>
      <vt:lpstr>🧩 Sales by Category</vt:lpstr>
      <vt:lpstr>🌍 Sales by Region</vt:lpstr>
      <vt:lpstr>🚚 Sales by Ship Mode</vt:lpstr>
      <vt:lpstr>📈 Monthly Sales &amp; Profit Trends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Dashboard Presentation</dc:title>
  <dc:subject/>
  <dc:creator>dell</dc:creator>
  <cp:keywords/>
  <dc:description>generated using python-pptx</dc:description>
  <cp:lastModifiedBy>Kshitiz Singh</cp:lastModifiedBy>
  <cp:revision>12</cp:revision>
  <dcterms:created xsi:type="dcterms:W3CDTF">2013-01-27T09:14:16Z</dcterms:created>
  <dcterms:modified xsi:type="dcterms:W3CDTF">2026-09-17T06:19:54Z</dcterms:modified>
  <cp:category/>
</cp:coreProperties>
</file>