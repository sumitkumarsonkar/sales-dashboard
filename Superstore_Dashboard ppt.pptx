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0" r:id="rId1"/>
  </p:sldMasterIdLst>
  <p:sldIdLst>
    <p:sldId id="256" r:id="rId2"/>
    <p:sldId id="267" r:id="rId3"/>
    <p:sldId id="268" r:id="rId4"/>
    <p:sldId id="257" r:id="rId5"/>
    <p:sldId id="258" r:id="rId6"/>
    <p:sldId id="261" r:id="rId7"/>
    <p:sldId id="260" r:id="rId8"/>
    <p:sldId id="259" r:id="rId9"/>
    <p:sldId id="262" r:id="rId10"/>
    <p:sldId id="265" r:id="rId11"/>
    <p:sldId id="266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6F138-AC5D-48A1-9E8B-DB36D181C265}" v="4" dt="2026-09-17T06:43:13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hitiz Singh" userId="c5acbebd4185a94d" providerId="LiveId" clId="{CF9801CE-D61C-485A-B8E5-89AF68C89618}"/>
    <pc:docChg chg="custSel modSld">
      <pc:chgData name="Kshitiz Singh" userId="c5acbebd4185a94d" providerId="LiveId" clId="{CF9801CE-D61C-485A-B8E5-89AF68C89618}" dt="2026-09-17T06:43:51.669" v="82" actId="478"/>
      <pc:docMkLst>
        <pc:docMk/>
      </pc:docMkLst>
      <pc:sldChg chg="addSp delSp modSp mod">
        <pc:chgData name="Kshitiz Singh" userId="c5acbebd4185a94d" providerId="LiveId" clId="{CF9801CE-D61C-485A-B8E5-89AF68C89618}" dt="2026-09-17T06:43:51.669" v="82" actId="478"/>
        <pc:sldMkLst>
          <pc:docMk/>
          <pc:sldMk cId="2260864498" sldId="265"/>
        </pc:sldMkLst>
        <pc:spChg chg="add del mod">
          <ac:chgData name="Kshitiz Singh" userId="c5acbebd4185a94d" providerId="LiveId" clId="{CF9801CE-D61C-485A-B8E5-89AF68C89618}" dt="2026-09-17T06:43:51.669" v="82" actId="478"/>
          <ac:spMkLst>
            <pc:docMk/>
            <pc:sldMk cId="2260864498" sldId="265"/>
            <ac:spMk id="10" creationId="{60942EAC-0993-33AB-8B8D-9A1133EB5D74}"/>
          </ac:spMkLst>
        </pc:spChg>
        <pc:graphicFrameChg chg="mod modGraphic">
          <ac:chgData name="Kshitiz Singh" userId="c5acbebd4185a94d" providerId="LiveId" clId="{CF9801CE-D61C-485A-B8E5-89AF68C89618}" dt="2026-09-17T06:43:35.869" v="80" actId="20577"/>
          <ac:graphicFrameMkLst>
            <pc:docMk/>
            <pc:sldMk cId="2260864498" sldId="265"/>
            <ac:graphicFrameMk id="5" creationId="{414AEFD4-B6B6-4567-9FCF-4AE42A1EF8DF}"/>
          </ac:graphicFrameMkLst>
        </pc:graphicFrameChg>
        <pc:graphicFrameChg chg="add mod modGraphic">
          <ac:chgData name="Kshitiz Singh" userId="c5acbebd4185a94d" providerId="LiveId" clId="{CF9801CE-D61C-485A-B8E5-89AF68C89618}" dt="2026-09-17T06:42:06.085" v="30" actId="122"/>
          <ac:graphicFrameMkLst>
            <pc:docMk/>
            <pc:sldMk cId="2260864498" sldId="265"/>
            <ac:graphicFrameMk id="7" creationId="{3D382EB0-EF2D-083F-A416-A387ABF4CFA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2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3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2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4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6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9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4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2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42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535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7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7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81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98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0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2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7255" y="1127904"/>
            <a:ext cx="6349432" cy="1348381"/>
          </a:xfrm>
        </p:spPr>
        <p:txBody>
          <a:bodyPr/>
          <a:lstStyle/>
          <a:p>
            <a:r>
              <a:rPr lang="en-US" sz="6000" dirty="0">
                <a:latin typeface="Arial Black" panose="020B0A04020102020204" pitchFamily="34" charset="0"/>
              </a:rPr>
              <a:t>Data Analysis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IN" sz="1600" b="1" dirty="0">
                <a:solidFill>
                  <a:srgbClr val="E6E6E6"/>
                </a:solidFill>
                <a:latin typeface="Arial Rounded MT Bold" panose="020F0704030504030204" pitchFamily="34" charset="0"/>
              </a:rPr>
              <a:t>( S</a:t>
            </a:r>
            <a:r>
              <a:rPr lang="en-IN" sz="1600" b="1" dirty="0">
                <a:solidFill>
                  <a:srgbClr val="E6E6E6"/>
                </a:solidFill>
                <a:effectLst/>
                <a:latin typeface="Arial Rounded MT Bold" panose="020F0704030504030204" pitchFamily="34" charset="0"/>
              </a:rPr>
              <a:t>UPERSTORE SALES DASHBOARD )</a:t>
            </a:r>
            <a:endParaRPr sz="16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E8908-F643-4162-A2B0-AF7B83D6D375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5F1373-19D8-4949-9E27-16315EC07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2" y="2368667"/>
            <a:ext cx="5033270" cy="369721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1F160A-CAF6-4D65-BED4-CE277A25158F}"/>
              </a:ext>
            </a:extLst>
          </p:cNvPr>
          <p:cNvCxnSpPr/>
          <p:nvPr/>
        </p:nvCxnSpPr>
        <p:spPr>
          <a:xfrm>
            <a:off x="5675585" y="2974430"/>
            <a:ext cx="56545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C342-E8FF-4DB6-905B-0AE4B2D3B7EB}"/>
              </a:ext>
            </a:extLst>
          </p:cNvPr>
          <p:cNvSpPr txBox="1"/>
          <p:nvPr/>
        </p:nvSpPr>
        <p:spPr>
          <a:xfrm>
            <a:off x="5590315" y="3123466"/>
            <a:ext cx="4866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latin typeface="Arial Black" panose="020B0A04020102020204" pitchFamily="34" charset="0"/>
              </a:rPr>
              <a:t>Sumit</a:t>
            </a:r>
            <a:r>
              <a:rPr lang="en-IN" sz="3200" b="1" dirty="0">
                <a:latin typeface="Arial Black" panose="020B0A04020102020204" pitchFamily="34" charset="0"/>
              </a:rPr>
              <a:t> Kumar </a:t>
            </a:r>
            <a:r>
              <a:rPr lang="en-IN" sz="3200" b="1" dirty="0" err="1">
                <a:latin typeface="Arial Black" panose="020B0A04020102020204" pitchFamily="34" charset="0"/>
              </a:rPr>
              <a:t>Sonkar</a:t>
            </a:r>
            <a:endParaRPr lang="en-IN" sz="3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E7234-FC81-40A5-B429-AF945C9CF93C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AFCB57-4BE4-45DB-944A-A3FF029E73C7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64023E-4F86-4E04-A7E0-E8028513E985}"/>
              </a:ext>
            </a:extLst>
          </p:cNvPr>
          <p:cNvSpPr txBox="1"/>
          <p:nvPr/>
        </p:nvSpPr>
        <p:spPr>
          <a:xfrm>
            <a:off x="725216" y="604644"/>
            <a:ext cx="697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🔍</a:t>
            </a:r>
            <a:r>
              <a:rPr lang="en-IN" sz="2500" b="1" dirty="0">
                <a:latin typeface="Arial Black" panose="020B0A04020102020204" pitchFamily="34" charset="0"/>
              </a:rPr>
              <a:t>Data Analysis Process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8564EB-02AA-49EA-99A6-9A519A2A12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58"/>
          <a:stretch/>
        </p:blipFill>
        <p:spPr>
          <a:xfrm>
            <a:off x="4484416" y="3773213"/>
            <a:ext cx="6852738" cy="17836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5313AE-67BA-49F9-AD4C-BD093ED10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328" b="38168"/>
          <a:stretch/>
        </p:blipFill>
        <p:spPr>
          <a:xfrm>
            <a:off x="4499121" y="2358211"/>
            <a:ext cx="6873072" cy="1267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DE4CA2-B14C-4318-B110-D50D9CFE4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16" y="2041140"/>
            <a:ext cx="3198644" cy="31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2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DAADEE-CD0A-461B-AD7F-28B1C00FD9DD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A334B-3D4D-4951-897B-8E2C0C282335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2A14538-7395-4EBC-AFBC-5F3A41FB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61" y="1571298"/>
            <a:ext cx="7972432" cy="4162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B5827-5AEE-46E5-BB88-B461BCD8EE0A}"/>
              </a:ext>
            </a:extLst>
          </p:cNvPr>
          <p:cNvSpPr txBox="1"/>
          <p:nvPr/>
        </p:nvSpPr>
        <p:spPr>
          <a:xfrm>
            <a:off x="819806" y="640304"/>
            <a:ext cx="65584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E6E6E6"/>
                </a:solidFill>
                <a:latin typeface="Arial Black" panose="020B0A04020102020204" pitchFamily="34" charset="0"/>
              </a:rPr>
              <a:t>Superstore</a:t>
            </a:r>
            <a:r>
              <a:rPr lang="en-IN" sz="2500" b="1" dirty="0">
                <a:solidFill>
                  <a:srgbClr val="E6E6E6"/>
                </a:solidFill>
                <a:effectLst/>
                <a:latin typeface="Arial Black" panose="020B0A04020102020204" pitchFamily="34" charset="0"/>
              </a:rPr>
              <a:t> Sales Data</a:t>
            </a:r>
            <a:endParaRPr lang="en-IN" sz="2500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424769-AE44-4374-8A05-DDAB2626D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117814"/>
              </p:ext>
            </p:extLst>
          </p:nvPr>
        </p:nvGraphicFramePr>
        <p:xfrm>
          <a:off x="893379" y="1618736"/>
          <a:ext cx="2361324" cy="1464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662">
                  <a:extLst>
                    <a:ext uri="{9D8B030D-6E8A-4147-A177-3AD203B41FA5}">
                      <a16:colId xmlns:a16="http://schemas.microsoft.com/office/drawing/2014/main" val="3103962144"/>
                    </a:ext>
                  </a:extLst>
                </a:gridCol>
                <a:gridCol w="1180662">
                  <a:extLst>
                    <a:ext uri="{9D8B030D-6E8A-4147-A177-3AD203B41FA5}">
                      <a16:colId xmlns:a16="http://schemas.microsoft.com/office/drawing/2014/main" val="1949679859"/>
                    </a:ext>
                  </a:extLst>
                </a:gridCol>
              </a:tblGrid>
              <a:tr h="7332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Rows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Column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190414"/>
                  </a:ext>
                </a:extLst>
              </a:tr>
              <a:tr h="7316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3999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4156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E05AB3C-723C-4382-A5CA-481A3A8E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58" y="3520097"/>
            <a:ext cx="2214166" cy="22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2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212" y="651124"/>
            <a:ext cx="6168339" cy="472614"/>
          </a:xfrm>
        </p:spPr>
        <p:txBody>
          <a:bodyPr>
            <a:normAutofit fontScale="90000"/>
          </a:bodyPr>
          <a:lstStyle/>
          <a:p>
            <a:r>
              <a:rPr sz="2800" b="1" dirty="0">
                <a:latin typeface="Arial Black" panose="020B0A04020102020204" pitchFamily="34" charset="0"/>
              </a:rPr>
              <a:t>Dashboard - Overview (Page 1)</a:t>
            </a:r>
            <a:r>
              <a:rPr lang="en-IN" sz="2800" b="1" dirty="0">
                <a:latin typeface="Arial Black" panose="020B0A04020102020204" pitchFamily="34" charset="0"/>
              </a:rPr>
              <a:t>  </a:t>
            </a:r>
            <a:endParaRPr sz="28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6DDCE-6EC2-4F9B-AD9E-B38A2EA3BCBA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8C3636-0B8A-4749-8B2D-3A2C651B115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1B5269-9DB3-7B38-71C1-FE70CA15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105" y="1195169"/>
            <a:ext cx="9595362" cy="53023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277" y="631392"/>
            <a:ext cx="7055380" cy="598316"/>
          </a:xfrm>
        </p:spPr>
        <p:txBody>
          <a:bodyPr/>
          <a:lstStyle/>
          <a:p>
            <a:r>
              <a:rPr lang="en-IN" sz="2500" b="1" dirty="0">
                <a:latin typeface="Arial Black" panose="020B0A04020102020204" pitchFamily="34" charset="0"/>
              </a:rPr>
              <a:t>Dashboard - Overview (Page 2) </a:t>
            </a:r>
            <a:endParaRPr lang="en-IN" sz="2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A742F-06BD-43C0-9020-15F8CC1C2BE9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FC801A-DD26-47D1-B8B7-72E36A0A42A7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E4DF37-0CC3-4A2B-AB14-01362FFC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79" y="1376420"/>
            <a:ext cx="8821186" cy="4939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64" y="628206"/>
            <a:ext cx="4945875" cy="527062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📌 KPI Insights for Slide</a:t>
            </a:r>
            <a:br>
              <a:rPr lang="en-IN" sz="2400" b="1" dirty="0"/>
            </a:br>
            <a:endParaRPr sz="1800" dirty="0"/>
          </a:p>
        </p:txBody>
      </p:sp>
      <p:pic>
        <p:nvPicPr>
          <p:cNvPr id="3" name="Picture 2" descr="Screenshot 2025-11-06 020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33" y="1567059"/>
            <a:ext cx="5591016" cy="4558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F7CF0E-4E51-4341-BB3C-106F964D3C2E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F7EFF7-3DAD-4484-B87E-3DCB984F382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F4762ADE-02D4-459C-A013-300176ED1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379" y="1567059"/>
            <a:ext cx="33107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Product : 1605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Quantity : 15K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Sales : 929K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Avg Profit : 26.76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Profit % : 11.52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27" y="589264"/>
            <a:ext cx="6763682" cy="503717"/>
          </a:xfrm>
        </p:spPr>
        <p:txBody>
          <a:bodyPr/>
          <a:lstStyle/>
          <a:p>
            <a:r>
              <a:rPr lang="en-US" sz="2500" b="1" dirty="0">
                <a:latin typeface="Arial Black" panose="020B0A04020102020204" pitchFamily="34" charset="0"/>
              </a:rPr>
              <a:t>📦 Top-Selling Products by Quantity</a:t>
            </a:r>
            <a:endParaRPr sz="25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3CDB4-FB57-4DAD-B303-A88F18CCDE95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B2B16D-84B0-4F47-9A5F-E884A099240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3F3061-26BF-4112-BAAA-0959B4CF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243" y="4013512"/>
            <a:ext cx="5318950" cy="2255224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51EB5EB-B334-4DC6-B9B8-2A5A8CEAF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552133"/>
              </p:ext>
            </p:extLst>
          </p:nvPr>
        </p:nvGraphicFramePr>
        <p:xfrm>
          <a:off x="893382" y="1528963"/>
          <a:ext cx="4508936" cy="473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273">
                  <a:extLst>
                    <a:ext uri="{9D8B030D-6E8A-4147-A177-3AD203B41FA5}">
                      <a16:colId xmlns:a16="http://schemas.microsoft.com/office/drawing/2014/main" val="2986164896"/>
                    </a:ext>
                  </a:extLst>
                </a:gridCol>
                <a:gridCol w="2585545">
                  <a:extLst>
                    <a:ext uri="{9D8B030D-6E8A-4147-A177-3AD203B41FA5}">
                      <a16:colId xmlns:a16="http://schemas.microsoft.com/office/drawing/2014/main" val="3351916905"/>
                    </a:ext>
                  </a:extLst>
                </a:gridCol>
                <a:gridCol w="1135118">
                  <a:extLst>
                    <a:ext uri="{9D8B030D-6E8A-4147-A177-3AD203B41FA5}">
                      <a16:colId xmlns:a16="http://schemas.microsoft.com/office/drawing/2014/main" val="3454226507"/>
                    </a:ext>
                  </a:extLst>
                </a:gridCol>
              </a:tblGrid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 Name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Quantity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81812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Staple Envelope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100+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59669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Staples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~95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38294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Easy-Staple Paper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~75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7442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Avery 485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~50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98425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Global Push Button Manager's Chair, Indigo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&lt;50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21993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Avery Heavy-Duty EZD View Binder with Locking Rings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&lt;50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67805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94D036ED-4D2B-4E98-AE13-328F80F69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32" y="1528963"/>
            <a:ext cx="2691364" cy="2150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2A1724-3774-46B1-AD1E-DFE827339417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278B3A-AC15-4599-A5AF-4306F49F7DA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13BA49-E2C2-496E-BD8B-2F37A62C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531" y="1515001"/>
            <a:ext cx="3720662" cy="4662702"/>
          </a:xfrm>
          <a:prstGeom prst="rect">
            <a:avLst/>
          </a:prstGeom>
        </p:spPr>
      </p:pic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B88350F4-1F17-4E39-8F85-CC90AB09B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44548"/>
              </p:ext>
            </p:extLst>
          </p:nvPr>
        </p:nvGraphicFramePr>
        <p:xfrm>
          <a:off x="893381" y="1488486"/>
          <a:ext cx="6159060" cy="473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08">
                  <a:extLst>
                    <a:ext uri="{9D8B030D-6E8A-4147-A177-3AD203B41FA5}">
                      <a16:colId xmlns:a16="http://schemas.microsoft.com/office/drawing/2014/main" val="2986164896"/>
                    </a:ext>
                  </a:extLst>
                </a:gridCol>
                <a:gridCol w="3522283">
                  <a:extLst>
                    <a:ext uri="{9D8B030D-6E8A-4147-A177-3AD203B41FA5}">
                      <a16:colId xmlns:a16="http://schemas.microsoft.com/office/drawing/2014/main" val="3351916905"/>
                    </a:ext>
                  </a:extLst>
                </a:gridCol>
                <a:gridCol w="1546369">
                  <a:extLst>
                    <a:ext uri="{9D8B030D-6E8A-4147-A177-3AD203B41FA5}">
                      <a16:colId xmlns:a16="http://schemas.microsoft.com/office/drawing/2014/main" val="3454226507"/>
                    </a:ext>
                  </a:extLst>
                </a:gridCol>
              </a:tblGrid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 Name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Quantity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81812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New York City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1.1K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59669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Los Angeles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38294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Philadelphia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7442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San Francisco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98425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Houston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21993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Seattle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678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B1D04B-B5E9-4100-8992-98B4CF9B0775}"/>
              </a:ext>
            </a:extLst>
          </p:cNvPr>
          <p:cNvSpPr txBox="1"/>
          <p:nvPr/>
        </p:nvSpPr>
        <p:spPr>
          <a:xfrm>
            <a:off x="819811" y="630620"/>
            <a:ext cx="45614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 Black" panose="020B0A04020102020204" pitchFamily="34" charset="0"/>
              </a:rPr>
              <a:t>Top 6 Cities by Quantity</a:t>
            </a:r>
            <a:endParaRPr lang="en-IN" sz="25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235" y="610368"/>
            <a:ext cx="4493447" cy="493209"/>
          </a:xfrm>
        </p:spPr>
        <p:txBody>
          <a:bodyPr/>
          <a:lstStyle/>
          <a:p>
            <a:r>
              <a:rPr lang="en-IN" sz="2500" dirty="0">
                <a:latin typeface="Arial Black" panose="020B0A04020102020204" pitchFamily="34" charset="0"/>
              </a:rPr>
              <a:t>🧩 Sales by Category</a:t>
            </a:r>
            <a:endParaRPr sz="2500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97A76-4249-4147-98C0-EC768A0231DE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D1A6E7-3F38-44A1-B9F2-C95F4C008A05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C3D3A11-B12D-4B06-96AC-26AF808D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495" y="1666175"/>
            <a:ext cx="5214698" cy="413527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7A007C3-70FB-4DB3-8C85-62BF2BC3D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80738"/>
              </p:ext>
            </p:extLst>
          </p:nvPr>
        </p:nvGraphicFramePr>
        <p:xfrm>
          <a:off x="913616" y="3541987"/>
          <a:ext cx="4656084" cy="225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42">
                  <a:extLst>
                    <a:ext uri="{9D8B030D-6E8A-4147-A177-3AD203B41FA5}">
                      <a16:colId xmlns:a16="http://schemas.microsoft.com/office/drawing/2014/main" val="2611423169"/>
                    </a:ext>
                  </a:extLst>
                </a:gridCol>
                <a:gridCol w="2328042">
                  <a:extLst>
                    <a:ext uri="{9D8B030D-6E8A-4147-A177-3AD203B41FA5}">
                      <a16:colId xmlns:a16="http://schemas.microsoft.com/office/drawing/2014/main" val="168233225"/>
                    </a:ext>
                  </a:extLst>
                </a:gridCol>
              </a:tblGrid>
              <a:tr h="518524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Category</a:t>
                      </a:r>
                      <a:endParaRPr lang="en-IN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Sales Share (%)</a:t>
                      </a:r>
                      <a:endParaRPr lang="en-IN" sz="18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4323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38.09%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06942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Furniture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33.15%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09448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Office Supplies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28.76%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855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110443C-B960-41BD-8408-837642B962A2}"/>
              </a:ext>
            </a:extLst>
          </p:cNvPr>
          <p:cNvSpPr txBox="1"/>
          <p:nvPr/>
        </p:nvSpPr>
        <p:spPr>
          <a:xfrm>
            <a:off x="840046" y="1666175"/>
            <a:ext cx="479193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Technology leads with 38% of total sales, but Furniture and Office Supplies are close contenders, indicating a balanced product mix.</a:t>
            </a:r>
            <a:endParaRPr lang="en-IN"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DB35-FF7E-4AFC-8690-B2EFAC12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92" y="599858"/>
            <a:ext cx="4567020" cy="987198"/>
          </a:xfrm>
        </p:spPr>
        <p:txBody>
          <a:bodyPr/>
          <a:lstStyle/>
          <a:p>
            <a:r>
              <a:rPr lang="en-IN" sz="2500" dirty="0">
                <a:solidFill>
                  <a:schemeClr val="tx1"/>
                </a:solidFill>
                <a:latin typeface="Arial Black" panose="020B0A04020102020204" pitchFamily="34" charset="0"/>
              </a:rPr>
              <a:t>🌍 Sales by Region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78C411-644F-40BC-8348-D5D37F615D01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5078B7-3320-4209-B61F-4C61C8980F0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414AEFD4-B6B6-4567-9FCF-4AE42A1E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90373"/>
              </p:ext>
            </p:extLst>
          </p:nvPr>
        </p:nvGraphicFramePr>
        <p:xfrm>
          <a:off x="975894" y="3141676"/>
          <a:ext cx="4656084" cy="225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42">
                  <a:extLst>
                    <a:ext uri="{9D8B030D-6E8A-4147-A177-3AD203B41FA5}">
                      <a16:colId xmlns:a16="http://schemas.microsoft.com/office/drawing/2014/main" val="2611423169"/>
                    </a:ext>
                  </a:extLst>
                </a:gridCol>
                <a:gridCol w="2328042">
                  <a:extLst>
                    <a:ext uri="{9D8B030D-6E8A-4147-A177-3AD203B41FA5}">
                      <a16:colId xmlns:a16="http://schemas.microsoft.com/office/drawing/2014/main" val="168233225"/>
                    </a:ext>
                  </a:extLst>
                </a:gridCol>
              </a:tblGrid>
              <a:tr h="518524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Region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Sales Share (%)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4323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East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30.07%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06942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29.96%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09448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Central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21.3%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855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4CE83E-C0CD-43D8-AD3F-8D53C17F6413}"/>
              </a:ext>
            </a:extLst>
          </p:cNvPr>
          <p:cNvSpPr txBox="1"/>
          <p:nvPr/>
        </p:nvSpPr>
        <p:spPr>
          <a:xfrm>
            <a:off x="840046" y="1666175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West and East regions dominate with over 90% of total sales, while Central lags significantly.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99B2B0-68B0-5AA3-D9CB-4EE28735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12" y="1622973"/>
            <a:ext cx="4907642" cy="383802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382EB0-EF2D-083F-A416-A387ABF4C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232383"/>
              </p:ext>
            </p:extLst>
          </p:nvPr>
        </p:nvGraphicFramePr>
        <p:xfrm>
          <a:off x="975894" y="5413802"/>
          <a:ext cx="4656084" cy="563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42">
                  <a:extLst>
                    <a:ext uri="{9D8B030D-6E8A-4147-A177-3AD203B41FA5}">
                      <a16:colId xmlns:a16="http://schemas.microsoft.com/office/drawing/2014/main" val="92770361"/>
                    </a:ext>
                  </a:extLst>
                </a:gridCol>
                <a:gridCol w="2328042">
                  <a:extLst>
                    <a:ext uri="{9D8B030D-6E8A-4147-A177-3AD203B41FA5}">
                      <a16:colId xmlns:a16="http://schemas.microsoft.com/office/drawing/2014/main" val="2348457604"/>
                    </a:ext>
                  </a:extLst>
                </a:gridCol>
              </a:tblGrid>
              <a:tr h="563057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South</a:t>
                      </a:r>
                      <a:endParaRPr lang="en-IN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400" dirty="0"/>
                        <a:t>18.68%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188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86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657D-097C-4A3A-B83E-C4F972CA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02" y="620882"/>
            <a:ext cx="4335796" cy="502856"/>
          </a:xfrm>
        </p:spPr>
        <p:txBody>
          <a:bodyPr/>
          <a:lstStyle/>
          <a:p>
            <a:r>
              <a:rPr lang="en-US" sz="2500" dirty="0">
                <a:solidFill>
                  <a:schemeClr val="tx1"/>
                </a:solidFill>
                <a:latin typeface="Arial Black" panose="020B0A04020102020204" pitchFamily="34" charset="0"/>
              </a:rPr>
              <a:t>🚚 Sales by Ship Mode</a:t>
            </a:r>
            <a:endParaRPr lang="en-IN" sz="2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A9560-9050-4D9E-B998-4AC4394D9AFD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6C3D5E-7A84-4401-808A-DD3A082ED0F3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2D4C6C3-3EE5-4B7F-A487-C39A87CB3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161453"/>
              </p:ext>
            </p:extLst>
          </p:nvPr>
        </p:nvGraphicFramePr>
        <p:xfrm>
          <a:off x="893379" y="3405351"/>
          <a:ext cx="4761188" cy="268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594">
                  <a:extLst>
                    <a:ext uri="{9D8B030D-6E8A-4147-A177-3AD203B41FA5}">
                      <a16:colId xmlns:a16="http://schemas.microsoft.com/office/drawing/2014/main" val="842982410"/>
                    </a:ext>
                  </a:extLst>
                </a:gridCol>
                <a:gridCol w="2380594">
                  <a:extLst>
                    <a:ext uri="{9D8B030D-6E8A-4147-A177-3AD203B41FA5}">
                      <a16:colId xmlns:a16="http://schemas.microsoft.com/office/drawing/2014/main" val="1259620574"/>
                    </a:ext>
                  </a:extLst>
                </a:gridCol>
              </a:tblGrid>
              <a:tr h="53678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Ship Mode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Sales Share (%)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454121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Standard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60.05%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860703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Second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18.04%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170237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First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16.63%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44199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Same Day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5.29%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548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3BD8E5-D86B-4EE4-B899-8BCA6F17891D}"/>
              </a:ext>
            </a:extLst>
          </p:cNvPr>
          <p:cNvSpPr txBox="1"/>
          <p:nvPr/>
        </p:nvSpPr>
        <p:spPr>
          <a:xfrm>
            <a:off x="840046" y="1666175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b="1" dirty="0"/>
              <a:t>Standard Class dominates with 60% of sales, indicating customer preference for cost-effective delivery.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D897F5-F389-4232-4575-007C1B128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192" y="1761066"/>
            <a:ext cx="5193882" cy="39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0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02" y="610368"/>
            <a:ext cx="6164596" cy="413284"/>
          </a:xfrm>
        </p:spPr>
        <p:txBody>
          <a:bodyPr/>
          <a:lstStyle/>
          <a:p>
            <a:r>
              <a:rPr lang="en-US" sz="2500" b="1" dirty="0">
                <a:solidFill>
                  <a:schemeClr val="tx1"/>
                </a:solidFill>
                <a:latin typeface="Arial Black" panose="020B0A04020102020204" pitchFamily="34" charset="0"/>
              </a:rPr>
              <a:t>📈 Monthly Sales &amp; Profit Trends </a:t>
            </a:r>
            <a:endParaRPr sz="25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Screenshot 2025-11-06 0207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71" y="1480261"/>
            <a:ext cx="5507422" cy="47321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974610-7821-4168-A06C-4FC23A6CE00A}"/>
              </a:ext>
            </a:extLst>
          </p:cNvPr>
          <p:cNvSpPr/>
          <p:nvPr/>
        </p:nvSpPr>
        <p:spPr>
          <a:xfrm>
            <a:off x="325821" y="199696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80A394-DBE9-4661-A48B-0F84ACB4B66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7BE388-1EE7-40A1-8E5C-0955F8268255}"/>
              </a:ext>
            </a:extLst>
          </p:cNvPr>
          <p:cNvSpPr txBox="1"/>
          <p:nvPr/>
        </p:nvSpPr>
        <p:spPr>
          <a:xfrm>
            <a:off x="817041" y="1480261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/>
              <a:t> 2014 consistently outperforms 2013 across most months, with September and November as peak periods for both sales and profit.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AC5D7B-9372-42D0-8D8E-107E38398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96" y="3001531"/>
            <a:ext cx="4316200" cy="3210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4D849-A517-421B-89ED-8BE360A59452}"/>
              </a:ext>
            </a:extLst>
          </p:cNvPr>
          <p:cNvSpPr/>
          <p:nvPr/>
        </p:nvSpPr>
        <p:spPr>
          <a:xfrm>
            <a:off x="325821" y="199696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5C83D-4718-4490-B537-C82D2EB4FA29}"/>
              </a:ext>
            </a:extLst>
          </p:cNvPr>
          <p:cNvSpPr txBox="1"/>
          <p:nvPr/>
        </p:nvSpPr>
        <p:spPr>
          <a:xfrm>
            <a:off x="3499944" y="2834457"/>
            <a:ext cx="4614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92427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327</TotalTime>
  <Words>312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Arial Rounded MT Bold</vt:lpstr>
      <vt:lpstr>Century Gothic</vt:lpstr>
      <vt:lpstr>Wingdings 3</vt:lpstr>
      <vt:lpstr>Ion</vt:lpstr>
      <vt:lpstr>Data Analysis ( SUPERSTORE SALES DASHBOARD )</vt:lpstr>
      <vt:lpstr>PowerPoint Presentation</vt:lpstr>
      <vt:lpstr>PowerPoint Presentation</vt:lpstr>
      <vt:lpstr>Dashboard - Overview (Page 1)  </vt:lpstr>
      <vt:lpstr>Dashboard - Overview (Page 2) </vt:lpstr>
      <vt:lpstr>📌 KPI Insights for Slide </vt:lpstr>
      <vt:lpstr>📦 Top-Selling Products by Quantity</vt:lpstr>
      <vt:lpstr>PowerPoint Presentation</vt:lpstr>
      <vt:lpstr>🧩 Sales by Category</vt:lpstr>
      <vt:lpstr>🌍 Sales by Region</vt:lpstr>
      <vt:lpstr>🚚 Sales by Ship Mode</vt:lpstr>
      <vt:lpstr>📈 Monthly Sales &amp; Profit Trends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 Presentation</dc:title>
  <dc:subject/>
  <dc:creator>dell</dc:creator>
  <cp:keywords/>
  <dc:description>generated using python-pptx</dc:description>
  <cp:lastModifiedBy>Kshitiz Singh</cp:lastModifiedBy>
  <cp:revision>12</cp:revision>
  <dcterms:created xsi:type="dcterms:W3CDTF">2013-01-27T09:14:16Z</dcterms:created>
  <dcterms:modified xsi:type="dcterms:W3CDTF">2026-09-17T06:44:55Z</dcterms:modified>
  <cp:category/>
</cp:coreProperties>
</file>